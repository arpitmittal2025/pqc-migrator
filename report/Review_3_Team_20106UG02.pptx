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-1232" y="-1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interSettings" Target="printerSettings/printerSettings1.bin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05/10/26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05/10/26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05/10/26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gle/B9B71VPy5b9bZ9dJ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xmlns="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1934141"/>
            <a:ext cx="892454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2000" b="0"/>
              <a:t>B.Tech.  |  BCSE497J – Project-I</a:t>
            </a:r>
          </a:p>
          <a:p>
            <a:r>
              <a:rPr sz="3000" b="1"/>
              <a:t>AI-Driven Post-Quantum Cryptography Migration Framework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xmlns="" id="{68BC382C-506F-4908-6AC3-C0AA73064F47}"/>
              </a:ext>
            </a:extLst>
          </p:cNvPr>
          <p:cNvSpPr txBox="1"/>
          <p:nvPr/>
        </p:nvSpPr>
        <p:spPr>
          <a:xfrm>
            <a:off x="2609088" y="3208471"/>
            <a:ext cx="7071360" cy="24608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Team members:</a:t>
            </a: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ARPIT MITTAL  (23BCI0044)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PRIYANSHU SEN  (23BCT0040)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VEDANSH TRIVEDI  (23BCT0056)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Faculty guide: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BADRINATH N, Associate Professor Grade 2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Team ID: 20106UG02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Mail From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33367C-DAD6-6E34-D21A-A981C0944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i="1" dirty="0">
                <a:highlight>
                  <a:srgbClr val="FFFF00"/>
                </a:highlight>
              </a:rPr>
              <a:t>Get the approval for the following points from your guide through mail before  21-10-2026.(sample attached below</a:t>
            </a:r>
            <a:r>
              <a:rPr lang="en-IN" i="1" dirty="0" smtClean="0">
                <a:highlight>
                  <a:srgbClr val="FFFF00"/>
                </a:highlight>
              </a:rPr>
              <a:t>)</a:t>
            </a:r>
          </a:p>
          <a:p>
            <a:endParaRPr lang="en-IN" i="1" dirty="0">
              <a:highlight>
                <a:srgbClr val="FFFF00"/>
              </a:highlight>
            </a:endParaRPr>
          </a:p>
          <a:p>
            <a:endParaRPr lang="en-IN" i="1" dirty="0" smtClean="0">
              <a:highlight>
                <a:srgbClr val="FFFF00"/>
              </a:highlight>
            </a:endParaRPr>
          </a:p>
          <a:p>
            <a:endParaRPr lang="en-IN" i="1" dirty="0" smtClean="0">
              <a:highlight>
                <a:srgbClr val="FFFF00"/>
              </a:highlight>
            </a:endParaRPr>
          </a:p>
          <a:p>
            <a:endParaRPr lang="en-IN" i="1" dirty="0">
              <a:highlight>
                <a:srgbClr val="FFFF00"/>
              </a:highlight>
            </a:endParaRPr>
          </a:p>
          <a:p>
            <a:endParaRPr lang="en-IN" i="1" dirty="0" smtClean="0">
              <a:highlight>
                <a:srgbClr val="FFFF00"/>
              </a:highlight>
            </a:endParaRPr>
          </a:p>
          <a:p>
            <a:endParaRPr lang="en-IN" i="1" dirty="0" smtClean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IN" dirty="0" smtClean="0"/>
              <a:t>All </a:t>
            </a:r>
            <a:r>
              <a:rPr lang="en-IN" dirty="0"/>
              <a:t>the above aspects are addressed and updated by the project team.</a:t>
            </a:r>
          </a:p>
          <a:p>
            <a:pPr marL="0" indent="0">
              <a:buNone/>
            </a:pPr>
            <a:endParaRPr lang="en-IN" dirty="0">
              <a:highlight>
                <a:srgbClr val="FFFF00"/>
              </a:highlight>
            </a:endParaRPr>
          </a:p>
          <a:p>
            <a:endParaRPr lang="en-IN" i="1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  <p:pic>
        <p:nvPicPr>
          <p:cNvPr id="7" name="Picture 6" descr="Screen Shot 2026-10-05 at 11.12.42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0053" y="2703606"/>
            <a:ext cx="8942979" cy="267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</a:rPr>
              <a:t>To automate the migration of classical public-key cryptography in existing Python software to NIST-standardised post-quantum algorithms, and to prove the migrated code still works.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Detect every use of RSA, ECC and Diffie-Hellman in a codebase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Recommend the correct NIST replacement for each occurrence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Rewrite the source automatically onto ML-KEM and ML-DSA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Verify the result by executing the migrated application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Report the measured cost of migration in size and time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6562-4E3F-4038-A291-A7AE35CC3E6A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Shor's algorithm breaks RSA, ECC and Diffie-Hellman; NIST standardised the replacements in August 2024 (FIPS 203, 204, 205).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Standardising algorithms solved only half the problem — migrating existing codebases is still slow, manual and needs cryptographic expertise.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We built an end-to-end framework: AST detection → purpose inference → NIST recommendation → rule-based rewriting → functional verification → reporting.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Evaluated on a 29-module labelled benchmark with 38 annotated sites: precision 1.00 and recall 1.00 over 31 in-scope sites, purpose accuracy 1.00, zero false alarms on 6 clean modules.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9 of 9 sites migrated across 3 sample applications; the migrated RSA and ECDSA applications execute successfully under real ML-KEM and ML-DSA.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Measured cost: ML-KEM-768 keys are 4.03× RSA-2048; ML-DSA-65 signatures are 46.6× ECDSA P-256.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58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05/10/26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  <p:sp>
        <p:nvSpPr>
          <p:cNvPr id="11" name="TextBox 10"/>
          <p:cNvSpPr txBox="1"/>
          <p:nvPr/>
        </p:nvSpPr>
        <p:spPr>
          <a:xfrm>
            <a:off x="841248" y="14173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Cryptographic discovery — NCCoE SP 1800-38: inventory is the first step, but stops at a catalogue; no recommendation, no code change.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Standards and guidance — FIPS 203/204/205 and NIST white papers define the destination and crypto-agility, not a path for existing code.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PQC implementations — liboqs, kyber-py, dilithium-py supply the primitives but do not migrate anything.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LLM code transformation — promising on isolated functions, but output always requires human verification before it can be trusted.</a:t>
            </a:r>
          </a:p>
        </p:txBody>
      </p:sp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7F8AC8-6380-9217-CA4C-1FBF1C25C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Discovery tools identify cryptography but do not recommend replacements.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Standards specify replacements but do not transform code.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Implementations provide primitives but do not migrate anything.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Transformation research changes code but does not verify the result.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</a:rPr>
              <a:t>No existing system connects detection → decision → transformation → verification into one workflow.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</a:rPr>
              <a:t>Verification is the widest part of the gap: cryptographic correctness is not visible by inspection — it must be demonstrated by execution.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E986A-8308-4C4E-A0F3-DDD9B5B2576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280160"/>
            <a:ext cx="10515600" cy="2697480"/>
          </a:xfrm>
        </p:spPr>
        <p:txBody>
          <a:bodyPr wrap="square">
            <a:normAutofit/>
          </a:bodyPr>
          <a:lstStyle/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Detect RSA, ECC and DH usage with file, line, algorithm and library.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Classify each occurrence as key encapsulation, key exchange or signature.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Recommend a specific NIST parameter set with a written justification.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Rewrite source onto PQC without modifying the originals.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Verify by round-trip tests, negative tests and executing migrated code.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Generate JSON, Markdown and HTML reports with a measured benchmark.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Evaluate detection quantitatively against a labelled benchmark.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82632EBB-2D05-8D00-7F98-43CBAFAF06ED}"/>
              </a:ext>
            </a:extLst>
          </p:cNvPr>
          <p:cNvSpPr txBox="1"/>
          <p:nvPr/>
        </p:nvSpPr>
        <p:spPr>
          <a:xfrm>
            <a:off x="548640" y="4069080"/>
            <a:ext cx="11064240" cy="77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</a:rPr>
              <a:t>Identified Sustainable Development Goals:  SDG 9 – Industry, Innovation and Infrastructure (primary);  SDG 16 – Peace, Justice and Strong Institutions (secondary)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</a:rPr>
              <a:t>Outcome: Conference (Scopus) — paper drafted, target venue to be finalised with the guide</a:t>
            </a:r>
          </a:p>
        </p:txBody>
      </p:sp>
      <p:pic>
        <p:nvPicPr>
          <p:cNvPr id="8" name="Picture 7" descr="3 The UN 17 Sustainable Development Goals (SDGs), implemented by all... | Download Scientific Diagram">
            <a:extLst>
              <a:ext uri="{FF2B5EF4-FFF2-40B4-BE49-F238E27FC236}">
                <a16:creationId xmlns:a16="http://schemas.microsoft.com/office/drawing/2014/main" xmlns="" id="{36180A9B-AA72-E2D6-8362-4CDF7058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4864608"/>
            <a:ext cx="1654035" cy="1325880"/>
          </a:xfrm>
          <a:prstGeom prst="rect">
            <a:avLst/>
          </a:prstGeom>
        </p:spPr>
      </p:pic>
      <p:pic>
        <p:nvPicPr>
          <p:cNvPr id="9" name="Picture 8" descr="What are Technology Readiness Levels (TRL)? - TWI">
            <a:extLst>
              <a:ext uri="{FF2B5EF4-FFF2-40B4-BE49-F238E27FC236}">
                <a16:creationId xmlns:a16="http://schemas.microsoft.com/office/drawing/2014/main" xmlns="" id="{D1491C9C-07B3-89C3-5FA0-72C9F44F3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4864608"/>
            <a:ext cx="1453189" cy="1325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BFBB131-7217-3694-F593-4021591CC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371600"/>
            <a:ext cx="10515600" cy="777240"/>
          </a:xfr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Seven independent stages; each communicates only through explicit data records, so no stage can report an outcome an earlier stage did not produce.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fig_4_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600" y="2240280"/>
            <a:ext cx="6400800" cy="403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FR1 — Recursively scan a project and report every RSA, ECC and DH usage.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FR2 — Report file, line, algorithm family, library and matched construct.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FR3 — Classify each occurrence as KEM, key exchange or signature.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FR4 — Continue analysing files that fail to parse, via a textual fallback.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FR5 — Accept target security category and signature family from config or CLI.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FR6 — Recommend a NIST parameter set per finding, with a justification.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FR7 — Produce migrated copies without modifying the original source.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FR8 — Never report a finding as migrated unless a rule actually applied.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FR9 — Verify by round-trip and negative tests, and execute migrated apps.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FR10 — Generate JSON, Markdown and HTML reports with a live benchmark.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Detector — AST walk over every module, matched against a pattern index; alias resolution; regex fallback for unparseable files.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Purpose classifier — re-infers the role of key generation from how the key is used elsewhere in the same module.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Recommender — purpose selects the family, security category selects the parameter set, scoring raises it from classical strength signals.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Migrator — independent rewrite rules plus a compatibility shim that keeps the classical object model over ML-KEM / ML-DSA.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PQC backend — one interface over liboqs and pure-Python kyber-py / dilithium-py; unsupported algorithms raise rather than substitute.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Verifier — round-trips, negative tests, and execution of migrated apps.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Reporter — JSON, Markdown, HTML with a benchmark measured at run time.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371600"/>
            <a:ext cx="10515600" cy="2057400"/>
          </a:xfr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</a:rPr>
              <a:t>Detection benchmark — 29 modules (18 in-scope, 5 adversarial, 6 clean), 38 annotated sites.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In-scope: precision 1.000, recall 1.000, F1 1.000 over 31 sites; purpose accuracy 1.000; 0 false alarms on 6 clean modules.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Extended (adversarial): recall 0.000 of 7 — wrapper libraries, string parameters and dynamic dispatch bound syntactic analysis.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Pipeline: 9/9 sites migrated across 3 apps; migrated RSA and ECDSA apps execute successfully. 70 automated tests pass.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fig_7_1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480" y="3566160"/>
            <a:ext cx="6035040" cy="2462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04F33DD-84F0-A7F9-A1DC-A4DEA1A7D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</a:rPr>
              <a:t>PQC migration is a software-engineering problem with a cryptographic correctness criterion — not just an algorithm choice.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Delivered an end-to-end verified pipeline: detection, purpose inference, recommendation, rewriting, verification and reporting.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All seven objectives met; limitations measured and reported rather than concealed.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</a:rPr>
              <a:t>Future work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</a:rPr>
              <a:t>LLM-assisted transformation for the 7 adversarial sites rules cannot reach — verification stage stays, so generated code must still execute.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</a:rPr>
              <a:t>Protocol-level restructuring of Diffie-Hellman handshakes.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</a:rPr>
              <a:t>Wrapper-library coverage, languages beyond Python, the optimisation module, and independent evaluation on real repositories.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Work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1EE89F-6F96-DF9C-768A-8B2A7BEAD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 Achieved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65DBCB3-75D0-D33A-66EA-4DDA4A022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 fontScale="92500" lnSpcReduction="20000"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</a:rPr>
              <a:t>Outcome identified: International Conference Proceedings (Scopus)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Status: full paper drafted — 8 sections, 5 result tables, measured evaluation. Target venue to be finalised with the guide.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Title: “From Detection to Verified Replacement: An End-to-End Framework for Post-Quantum Cryptographic Migration of Python Codebases”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A03020"/>
                </a:solidFill>
              </a:rPr>
              <a:t>[Replace this slide with the submission / acceptance screenshot once the paper is submitted, and upload the proof to the given link before 27 Oct 2026.]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F86E621-0A63-DDD2-60A0-511D9D7C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4966F66-9685-CC43-3B74-035A03CAF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234F7B-54B7-5C34-9356-A94BE39E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570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xmlns="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0080" y="1325880"/>
            <a:ext cx="10881360" cy="47548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sz="1100" b="0">
                <a:solidFill>
                  <a:srgbClr val="1A1A1A"/>
                </a:solidFill>
              </a:rPr>
              <a:t>[1] National Institute of Standards and Technology, Module-Lattice-Based Key-Encapsulation Mechanism Standard, FIPS 203, Gaithersburg, MD, USA, Aug. 2024.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[2] National Institute of Standards and Technology, Module-Lattice-Based Digital Signature Standard, FIPS 204, Gaithersburg, MD, USA, Aug. 2024.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[3] National Institute of Standards and Technology, Stateless Hash-Based Digital Signature Standard, FIPS 205, Gaithersburg, MD, USA, Aug. 2024.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[4] National Cybersecurity Center of Excellence, Migration to Post-Quantum Cryptography, NIST Special Publication 1800-38, National Institute of Standards and Technology.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[5] G. Pope, “kyber-py: A pure-Python implementation of ML-KEM (FIPS 203),” software repository, version 1.2.0.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[6] G. Pope, “dilithium-py: A pure-Python implementation of ML-DSA (FIPS 204),” software repository, version 1.4.0.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[7] W. Barker, W. Polk and M. Souppaya, Getting Ready for Post-Quantum Cryptography: Exploring Challenges Associated with Adopting and Using Post-Quantum Cryptographic Algorithms, NIST Cybersecurity White Paper, 2021.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[8] M. Chen et al., “Evaluating large language models trained on code,” arXiv preprint arXiv:2107.03374, 2021.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376</Words>
  <Application>Microsoft Macintosh PowerPoint</Application>
  <PresentationFormat>Custom</PresentationFormat>
  <Paragraphs>98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&lt;&lt;Programme B.Tech/ M.Tech Course Code – Course Title&gt;&gt; &lt;&lt;Project Title&gt;&gt;</vt:lpstr>
      <vt:lpstr>Approval Mail From Guide</vt:lpstr>
      <vt:lpstr>Aim</vt:lpstr>
      <vt:lpstr>Abstract</vt:lpstr>
      <vt:lpstr>Literature Review</vt:lpstr>
      <vt:lpstr>Research Gap</vt:lpstr>
      <vt:lpstr>Objectives</vt:lpstr>
      <vt:lpstr>Framework/Architecture/Block Diagram</vt:lpstr>
      <vt:lpstr>Functional Requirements</vt:lpstr>
      <vt:lpstr>Modules</vt:lpstr>
      <vt:lpstr>Experiments and Results</vt:lpstr>
      <vt:lpstr>Conclusion and Future Work</vt:lpstr>
      <vt:lpstr>Outcome Achieved</vt:lpstr>
      <vt:lpstr>References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&lt;&lt;Programme B.Tech/ M.Tech Course Code – Course Title&gt;&gt; &lt;&lt;Project Title&gt;&gt;</dc:title>
  <dc:creator>Parthasarathy G</dc:creator>
  <cp:lastModifiedBy>Prakash Mohan</cp:lastModifiedBy>
  <cp:revision>12</cp:revision>
  <dcterms:created xsi:type="dcterms:W3CDTF">2026-07-14T06:00:41Z</dcterms:created>
  <dcterms:modified xsi:type="dcterms:W3CDTF">2026-10-05T06:25:49Z</dcterms:modified>
</cp:coreProperties>
</file>