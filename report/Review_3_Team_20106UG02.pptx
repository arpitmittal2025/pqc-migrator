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 b="0"/>
              <a:t>B.Tech.  |  BCSE497J – Project-I</a:t>
            </a:r>
          </a:p>
          <a:p>
            <a:r>
              <a:rPr sz="3000" b="1"/>
              <a:t>AI-Driven Post-Quantum Cryptography Migration Framework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ARPIT MITTAL  (23BCI0044)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PRIYANSHU SEN  (23BCT0040)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VEDANSH TRIVEDI  (23BCT0056)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Faculty guide: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BADRINATH N, Associate Professor Grade 2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ID: 20106UG02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i="1" dirty="0">
                <a:highlight>
                  <a:srgbClr val="FFFF00"/>
                </a:highlight>
              </a:rPr>
              <a:t>Get the approval for the following points from your guide through mail before  21-10-2026.(sample attached below</a:t>
            </a:r>
            <a:r>
              <a:rPr lang="en-IN" i="1" dirty="0" smtClean="0">
                <a:highlight>
                  <a:srgbClr val="FFFF00"/>
                </a:highlight>
              </a:rPr>
              <a:t>)</a:t>
            </a: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dirty="0" smtClean="0"/>
              <a:t>All </a:t>
            </a:r>
            <a:r>
              <a:rPr lang="en-IN" dirty="0"/>
              <a:t>the above aspects are addressed and updated by the project team.</a:t>
            </a:r>
          </a:p>
          <a:p>
            <a:pPr marL="0" indent="0">
              <a:buNone/>
            </a:pPr>
            <a:endParaRPr lang="en-IN" dirty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</a:rPr>
              <a:t>To automate the migration of classical public-key cryptography in existing Python software to NIST-standardised post-quantum algorithms, and to prove the migrated code still works.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Detect every use of RSA, ECC and Diffie-Hellman in a codebase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Recommend the correct NIST replacement for each occurrence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Rewrite the source automatically onto ML-KEM and ML-DSA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Verify the result by executing the migrated application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Report the measured cost of migration in size and time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Shor's algorithm breaks RSA, ECC and Diffie-Hellman; NIST standardised the replacements in August 2024 (FIPS 203, 204, 205).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Standardising algorithms solved only half the problem — migrating existing codebases is still slow, manual and needs cryptographic expertise.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We built an end-to-end framework: AST detection → purpose inference → NIST recommendation → rule-based rewriting → functional verification →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Evaluated on a 29-module labelled benchmark with 38 annotated sites: precision 1.00 and recall 1.00 over 31 in-scope sites, purpose accuracy 1.00, zero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9 of 9 sites migrated across 3 sample applications; the migrated RSA and ECDSA applications execute successfully under real ML-KEM and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Measured cost: ML-KEM-768 keys are 4.03× RSA-2048; ML-DSA-65 signatures are 46.6× ECDSA P-256.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325880"/>
          <a:ext cx="11430000" cy="4754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57400"/>
                <a:gridCol w="2057400"/>
                <a:gridCol w="2240280"/>
                <a:gridCol w="2514600"/>
                <a:gridCol w="2560320"/>
              </a:tblGrid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 / Source</a:t>
                      </a:r>
                    </a:p>
                  </a:txBody>
                  <a:tcPr marL="64008" marR="64008" marT="27432" marB="27432"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Objective</a:t>
                      </a:r>
                    </a:p>
                  </a:txBody>
                  <a:tcPr marL="64008" marR="64008" marT="27432" marB="27432"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Methodology</a:t>
                      </a:r>
                    </a:p>
                  </a:txBody>
                  <a:tcPr marL="64008" marR="64008" marT="27432" marB="27432"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Pros / Cons</a:t>
                      </a:r>
                    </a:p>
                  </a:txBody>
                  <a:tcPr marL="64008" marR="64008" marT="27432" marB="27432"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Findings</a:t>
                      </a:r>
                    </a:p>
                  </a:txBody>
                  <a:tcPr marL="64008" marR="64008" marT="27432" marB="27432">
                    <a:solidFill>
                      <a:srgbClr val="4472C4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NIST FIPS 203, 204, 205 (2024)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Standardise quantum-resistant KEM and signature schemes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Multi-round public evaluation of lattice and hash-based candidates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Pro: settles which algorithms to adopt.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Con: silent on migrating existing code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ML-KEM, ML-DSA and SLH-DSA with defined parameter sets per security category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NCCoE, NIST SP 1800-38 — Migration to PQC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Define a migration programme for enterprises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Practice guidance centred on cryptographic discovery and inventory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Pro: establishes discovery as the first step.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Con: produces an inventory only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Knowing where crypto lives does not say what should replace it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Stebila &amp; Mosca, Open Quantum Safe (SAC 2016); kyber-py, dilithium-py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Make post-quantum primitives usable in real software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Open-source reference and optimised implementations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Pro: production-quality primitives available.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Con: supplies the destination, not the journey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Primitives are available and interoperable well ahead of adoption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Chen et al., Evaluating LLMs trained on code (2021)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Assess model-driven source-to-source transformation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Benchmark generated code against functional tests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Pro: handles code shapes rules cannot match.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Con: output requires human verification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A plausible patch is indistinguishable from a correct one without execution</a:t>
                      </a:r>
                    </a:p>
                  </a:txBody>
                  <a:tcPr marL="64008" marR="64008" marT="27432" marB="27432">
                    <a:solidFill>
                      <a:srgbClr val="DEE6F2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Mosca (2018); Barker et al., NIST white paper (2021)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Frame the urgency and organisational readiness problem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Risk analysis of the harvest-now-decrypt-later threat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Pro: justifies acting before quantum hardware exists.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Con: no technical migration path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</a:rPr>
                        <a:t>Long-lived data is already exposed; migration cannot wait for the threat</a:t>
                      </a:r>
                    </a:p>
                  </a:txBody>
                  <a:tcPr marL="64008" marR="64008" marT="27432" marB="27432">
                    <a:solidFill>
                      <a:srgbClr val="CCD7E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Discovery tools identify cryptography but do not recommend replacements.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Standards specify replacements but do not transform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Implementations provide primitives but do not migrate anything.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Transformation research changes code but does not verify the result.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No existing system connects detection → decision → transformation → verification into one workflow.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Verification is the widest part of the gap: cryptographic correctness is not visible by inspection — it must be demonstrated by execution.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280160"/>
            <a:ext cx="10515600" cy="2697480"/>
          </a:xfrm>
        </p:spPr>
        <p:txBody>
          <a:bodyPr wrap="square">
            <a:norm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Detect RSA, ECC and DH usage with file, line, algorithm and library.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Classify each occurrence as key encapsulation, key exchange or signature.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Recommend a specific NIST parameter set with a written justification.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Rewrite source onto PQC without modifying the originals.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Verify by round-trip tests, negative tests and executing migrated code.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Generate JSON, Markdown and HTML reports with a measured benchmark.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Evaluate detection quantitatively against a labelled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548640" y="4069080"/>
            <a:ext cx="11064240" cy="77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</a:rPr>
              <a:t>Identified Sustainable Development Goals:  SDG 9 – Industry, Innovation and Infrastructure (primary);  SDG 16 – Peace, Justice and Strong Institutions (secondary)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</a:rPr>
              <a:t>Outcome: Conference (Scopus) — paper drafted, target venue to be finalised with the guide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4864608"/>
            <a:ext cx="1654035" cy="1325880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4864608"/>
            <a:ext cx="1453189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77724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Seven independent stages; each communicates only through explicit data records, so no stage can report an outcome an earlier stage did not produce.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4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2240280"/>
            <a:ext cx="6400800" cy="403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 — Recursively scan a project and report every RSA, ECC and DH usage.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FR2 — Report file, line, algorithm family, library and matched construct.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FR3 — Classify each occurrence as KEM, key exchange or signature.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FR4 — Continue analysing files that fail to parse, via a textual fallback.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FR5 — Accept target security category and signature family from config or CLI.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FR6 — Recommend a NIST parameter set per finding, with a justification.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FR7 — Produce migrated copies without modifying the original source.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FR8 — Never report a finding as migrated unless a rule actually applied.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FR9 — Verify by round-trip and negative tests, and execute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FR10 — Generate JSON, Markdown and HTML reports with a live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Detector — AST walk over every module, matched against a pattern index; alias resolution; regex fallback for unparseable files.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Purpose classifier — re-infers the role of key generation from how the key is used elsewhere in the same module.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Recommender — purpose selects the family, security category selects the parameter set, scoring raises it from classical strength signals.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Migrator — independent rewrite rules plus a compatibility shim that keeps the classical object model over ML-KEM /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PQC backend — one interface over liboqs and pure-Python kyber-py / dilithium-py; unsupported algorithms raise rather than substitute.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Verifier — round-trips, negative tests, and execution of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Reporter — JSON, Markdown, HTML with a benchmark measured at run time.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205740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Detection benchmark — 29 modules (18 in-scope, 5 adversarial, 6 clean), 38 annotated sites.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In-scope: precision 1.000, recall 1.000, F1 1.000 over 31 sites; purpose accuracy 1.000; 0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Extended (adversarial): recall 0.000 of 7 — wrapper libraries, string parameters and dynamic dispatch bound syntactic analysis.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Pipeline: 9/9 sites migrated across 3 apps; migrated RSA and ECDSA apps execute successfully. 70 automated tests pass.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7_1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80" y="3566160"/>
            <a:ext cx="6035040" cy="246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PQC migration is a software-engineering problem with a cryptographic correctness criterion — not just an algorithm choice.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Delivered an end-to-end verified pipeline: detection, purpose inference, recommendation, rewriting, verification and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All seven objectives met; limitations measured and reported rather than concealed.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Future work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LLM-assisted transformation for the 7 adversarial sites rules cannot reach — verification stage stays, so generated code must still execute.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Protocol-level restructuring of Diffie-Hellman handshakes.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Wrapper-library coverage, languages beyond Python, the optimisation module, and independent evaluation on real repositories.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Outcome identified: International Conference Proceedings (Scopus)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Status: full paper drafted — 8 sections, 5 result tables, measured evaluation. Target venue to be finalised with the guide.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Title: “From Detection to Verified Replacement: An End-to-End Framework for Post-Quantum Cryptographic Migration of Python Codebases”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A03020"/>
                </a:solidFill>
              </a:rPr>
              <a:t>[Replace this slide with the submission / acceptance screenshot once the paper is submitted, and upload the proof to the given link before 27 Oct 2026.]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0080" y="1298448"/>
            <a:ext cx="10881360" cy="484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95000"/>
              </a:lnSpc>
              <a:spcBef>
                <a:spcPct val="0"/>
              </a:spcBef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[1] National Institute of Standards and Technology,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Module-Lattice-Based Key-Encapsulation Mechanism Standard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FIPS 203, Gaithersburg, MD, USA, Aug. 2024.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[2] National Institute of Standards and Technology,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Module-Lattice-Based Digital Signature Standard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FIPS 204, Gaithersburg, MD, USA, Aug. 2024.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[3] National Institute of Standards and Technology,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Stateless Hash-Based Digital Signature Standard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FIPS 205, Gaithersburg, MD, USA, Aug. 2024.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[4] National Cybersecurity Center of Excellence,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Migration to Post-Quantum Cryptography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NIST Special Publication 1800-38, Gaithersburg, MD, USA.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[5] G. Pope, “kyber-py: A pure-Python implementation of ML-KEM (FIPS 203),” software repository, version 1.2.0.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[6] G. Pope, “dilithium-py: A pure-Python implementation of ML-DSA (FIPS 204),” software repository, version 1.4.0.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[7] W. Barker, W. Polk and M. Souppaya,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Getting Ready for Post-Quantum Cryptography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NIST Cybersecurity White Paper, 2021.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[8] M. Chen et al., “Evaluating large language models trained on code,”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arXiv preprint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 arXiv:2107.03374, 2021.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[9] M. Mosca, “Cybersecurity in an era with quantum computers: Will we be ready?,”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IEEE Security &amp; Privacy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vol. 16, no. 5, pp. 38-41, 2018.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[10] D. Stebila and M. Mosca, “Post-quantum key exchange for the Internet and the Open Quantum Safe project,” in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Proc. Selected Areas in Cryptography (SAC 2016)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LNCS vol. 10532, pp. 14-37.</a:t>
            </a:r>
          </a:p>
          <a:p>
            <a:pPr>
              <a:lnSpc>
                <a:spcPct val="95000"/>
              </a:lnSpc>
              <a:spcAft>
                <a:spcPts val="500"/>
              </a:spcAft>
              <a:buNone/>
            </a:pPr>
            <a:r>
              <a:rPr sz="1050" i="0">
                <a:solidFill>
                  <a:srgbClr val="1A1A1A"/>
                </a:solidFill>
                <a:latin typeface="Times New Roman"/>
              </a:rPr>
              <a:t>[11] P. W. Shor, “Polynomial-time algorithms for prime factorization and discrete logarithms on a quantum computer,” </a:t>
            </a:r>
            <a:r>
              <a:rPr sz="1050" i="1">
                <a:solidFill>
                  <a:srgbClr val="1A1A1A"/>
                </a:solidFill>
                <a:latin typeface="Times New Roman"/>
              </a:rPr>
              <a:t>SIAM Journal on Computing</a:t>
            </a:r>
            <a:r>
              <a:rPr sz="1050" i="0">
                <a:solidFill>
                  <a:srgbClr val="1A1A1A"/>
                </a:solidFill>
                <a:latin typeface="Times New Roman"/>
              </a:rPr>
              <a:t>, vol. 26, no. 5, pp. 1484-1509, 1997.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