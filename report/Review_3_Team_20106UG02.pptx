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4" r:id="rId9"/>
    <p:sldId id="265" r:id="rId10"/>
    <p:sldId id="266" r:id="rId11"/>
    <p:sldId id="267" r:id="rId12"/>
    <p:sldId id="268" r:id="rId13"/>
    <p:sldId id="269" r:id="rId14"/>
    <p:sldId id="26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58E2E1-8886-43B2-B986-F2B06DAA2FAC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59FDF3-42B5-4A41-B75E-186C38908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858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592BF-19BE-9BF0-E2FC-07A36D054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3AB4F9-CBB3-B18D-E917-C3B064186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F18A0-E201-1900-A139-E830DD3EA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78AE-7F97-4550-9DD8-BF69171FDC30}" type="datetime1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906B9-B1F6-B52E-2EE0-7595B1EBF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13AE1-F96E-D540-8DE1-8D903DB30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197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2F7EA-3EC9-99AF-13A9-22A3F8B2D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1419B-73DB-15DA-D2EE-0FC01B435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80259-8D20-E29B-4DC5-312C3DB01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1830E-3502-194A-88FA-DC3E0F1B3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6703C-229C-43C6-0484-38EC263AD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990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CE344-6494-09A6-A5E4-811EEE0CD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51A0E2-2B9B-B96E-A3FD-0B26BDDBE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7CE67-8E8A-4D0D-42DF-DDC842B1B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2BD8-A2C4-424B-809A-C64DDCC305D9}" type="datetime1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78C3E-C139-1FD1-979B-D71679959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2F297-889B-B694-6DD5-92F8A6AAF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14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2C89C-FEA2-11F6-7988-ADD14A7B2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5DE7B-A406-1142-36EA-1C14987402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355A2B-361E-86CB-ABBE-C510D2B22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A5E84-A1E0-A1C4-F7E6-DA9E7B124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0F4BC-B3A4-46AF-9AEC-8478EF1369D5}" type="datetime1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DDA460-54C8-F2AC-C053-53FF3FAFC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6F132A-BD40-58D2-CEEC-A1BA2B9E2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223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823BE-2514-8722-ED45-41E13E46B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BFEE3B-6ABA-1D24-97FE-717EBBC99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653C42-4C6D-988F-42A0-8639A508A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B662B4-F942-A78F-394F-74F603717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445FBE-A81E-92E1-36E3-99D1586F83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D20C02-77C2-CB2A-62F8-60B8C6262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2993-B405-4F4D-B968-A01C27211659}" type="datetime1">
              <a:rPr lang="en-IN" smtClean="0"/>
              <a:t>25-10-2026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033241-EB08-777E-F678-5D641F649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D711ED-181F-C690-A3B3-1D82670FC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272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468B4-E355-69B3-7598-80ADF2F9C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1AB3B-AFC6-3627-62E6-22313061F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8C8C-5FBB-4DD7-A06D-BE263480794B}" type="datetime1">
              <a:rPr lang="en-IN" smtClean="0"/>
              <a:t>25-10-2026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2C6591-48E4-480E-7965-DE9F83015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C9D68-A16A-B2D3-C8A6-B5221AF74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061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3F289A-3AD7-C11D-1594-90A35E592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2985-06EC-459B-80C8-F6F4362A1C03}" type="datetime1">
              <a:rPr lang="en-IN" smtClean="0"/>
              <a:t>25-10-2026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252269-BBE3-199F-299B-38D4E9CC1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07FDC-B2A9-1304-047F-5808A0B6B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265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A4847-FC20-D9BF-0BDE-26EC7EF74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9C584-AC19-D7B4-9DFE-7C1BC2E1B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4A3262-CE8D-2419-DCCC-C536E9FDA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758D6-7AF2-29C5-E0EE-3B7BE155E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7E9DA-13C6-48A4-9305-B592482DE8CE}" type="datetime1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AC7E7-68C4-7616-2DE1-0333E2C44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9EF51B-1685-66FF-0783-23584C25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387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39D0E-3A71-7252-C837-B8281F0D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E3D557-6893-299F-57A8-A7B173F101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CC8BA2-BB08-F4E3-5660-C7370BA56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57E1CE-C7CA-966D-8661-1E99A7DA2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E7C4B-C575-4DCF-9B63-045662930500}" type="datetime1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055516-3E64-07E5-10C5-DE056657E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BA5AD5-9867-E76D-C035-2856CCFB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017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1D7EC-16EA-5009-5D33-ABFC55F2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09EC6D-8ED5-29E9-9444-CC2D6A1CB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ADFC6-7CEA-ABEE-94C2-870B1E657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6931C-EA1A-43DD-B3B3-66F5BA587712}" type="datetime1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FA3A5-596E-6C2A-F853-30C5DC6FB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CE6B1-CE87-B68F-9494-FA6D109F3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809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0FF105-FC99-2BCB-131F-2B902F8BA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354FD6-064F-6E12-E8DE-81EC913CD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D2109-32D1-4A0F-F903-5142A204E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9B0E1-7C95-4C20-B9C6-BA51F388E878}" type="datetime1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5353D-EEF9-CF3C-A97F-F0F0EBFA7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2F1DC-3958-BCDE-9A16-88E928E7E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354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454249-E28B-CF91-F4A6-9762E4F38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3D641-7C66-CA7D-30A7-7F95AC27E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1D408-B228-838E-3E43-4304680A5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27C3E-786B-4150-9177-1C28966A2ADC}" type="datetime1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C7A69-1922-F157-900C-FF9566831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80E76-E345-1553-9664-0BCF569B55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841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9E27CD-EF84-CB3A-3D07-A31523568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236" y="-11493"/>
            <a:ext cx="4517528" cy="1871634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BAD67C4-20B4-E1F6-A7E7-C8C33181D0C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907459" y="1934141"/>
            <a:ext cx="8924544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000" b="0"/>
              <a:t>B.Tech.  |  BCSE497J – Project-I</a:t>
            </a:r>
          </a:p>
          <a:p>
            <a:r>
              <a:rPr sz="3000" b="1"/>
              <a:t>AI-Driven Post-Quantum Cryptography Migration Framework</a:t>
            </a: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68BC382C-506F-4908-6AC3-C0AA73064F47}"/>
              </a:ext>
            </a:extLst>
          </p:cNvPr>
          <p:cNvSpPr txBox="1"/>
          <p:nvPr/>
        </p:nvSpPr>
        <p:spPr>
          <a:xfrm>
            <a:off x="2609088" y="3208471"/>
            <a:ext cx="7071360" cy="24608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</a:rPr>
              <a:t>Team members:</a:t>
            </a:r>
            <a:endParaRPr sz="1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</a:rPr>
              <a:t>ARPIT MITTAL  (23BCI0044)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</a:rPr>
              <a:t>PRIYANSHU SEN  (23BCT0040)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</a:rPr>
              <a:t>VEDANSH TRIVEDI  (23BCT0056)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endParaRPr sz="1500" b="0">
              <a:solidFill>
                <a:srgbClr val="1A1A1A"/>
              </a:solidFill>
            </a:endParaRP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</a:rPr>
              <a:t>Faculty guide: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</a:rPr>
              <a:t>BADRINATH N, Associate Professor Grade 2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endParaRPr sz="1500" b="0">
              <a:solidFill>
                <a:srgbClr val="1A1A1A"/>
              </a:solidFill>
            </a:endParaRP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</a:rPr>
              <a:t>Team ID: 20106UG02</a:t>
            </a:r>
          </a:p>
        </p:txBody>
      </p:sp>
    </p:spTree>
    <p:extLst>
      <p:ext uri="{BB962C8B-B14F-4D97-AF65-F5344CB8AC3E}">
        <p14:creationId xmlns:p14="http://schemas.microsoft.com/office/powerpoint/2010/main" val="4243036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CBE13-A9D6-9564-DA47-597E38E09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Approval Mail From Guide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3367C-DAD6-6E34-D21A-A981C0944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i="1" dirty="0">
                <a:highlight>
                  <a:srgbClr val="FFFF00"/>
                </a:highlight>
              </a:rPr>
              <a:t>Get the approval for the following points from your guide through mail before  21-10-2026.(sample attached below)</a:t>
            </a:r>
          </a:p>
          <a:p>
            <a:endParaRPr lang="en-IN" i="1" dirty="0">
              <a:highlight>
                <a:srgbClr val="FFFF00"/>
              </a:highlight>
            </a:endParaRPr>
          </a:p>
          <a:p>
            <a:endParaRPr lang="en-IN" i="1" dirty="0">
              <a:highlight>
                <a:srgbClr val="FFFF00"/>
              </a:highlight>
            </a:endParaRPr>
          </a:p>
          <a:p>
            <a:endParaRPr lang="en-IN" i="1" dirty="0">
              <a:highlight>
                <a:srgbClr val="FFFF00"/>
              </a:highlight>
            </a:endParaRPr>
          </a:p>
          <a:p>
            <a:endParaRPr lang="en-IN" i="1" dirty="0">
              <a:highlight>
                <a:srgbClr val="FFFF00"/>
              </a:highlight>
            </a:endParaRPr>
          </a:p>
          <a:p>
            <a:endParaRPr lang="en-IN" i="1" dirty="0">
              <a:highlight>
                <a:srgbClr val="FFFF00"/>
              </a:highlight>
            </a:endParaRPr>
          </a:p>
          <a:p>
            <a:endParaRPr lang="en-IN" i="1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IN" dirty="0"/>
              <a:t>All the above aspects are addressed and updated by the project team.</a:t>
            </a:r>
          </a:p>
          <a:p>
            <a:pPr marL="0" indent="0">
              <a:buNone/>
            </a:pPr>
            <a:endParaRPr lang="en-IN" dirty="0">
              <a:highlight>
                <a:srgbClr val="FFFF00"/>
              </a:highlight>
            </a:endParaRPr>
          </a:p>
          <a:p>
            <a:endParaRPr lang="en-IN" i="1" dirty="0">
              <a:highlight>
                <a:srgbClr val="FFFF00"/>
              </a:highlight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27C50-3ED3-2DB6-C227-6784C6CA9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25-10-2026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4170-792F-28F8-1C31-5F7A8D69F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6528B-72DB-0275-6A94-33ABB5CD7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2</a:t>
            </a:fld>
            <a:endParaRPr lang="en-IN"/>
          </a:p>
        </p:txBody>
      </p:sp>
      <p:pic>
        <p:nvPicPr>
          <p:cNvPr id="7" name="Picture 6" descr="Screen Shot 2026-10-05 at 11.12.42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0053" y="2703606"/>
            <a:ext cx="8942979" cy="267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560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8A428-04DA-E6A8-7606-5D2FE5F31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</a:rPr>
              <a:t>To automate the migration of classical public-key cryptography in existing Python software to NIST-standardised post-quantum algorithms, and to prove the migrated code still works.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</a:rPr>
              <a:t>Detect every use of RSA, ECC and Diffie-Hellman in a codebase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</a:rPr>
              <a:t>Recommend the correct NIST replacement for each occurrence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</a:rPr>
              <a:t>Rewrite the source automatically onto ML-KEM and ML-DSA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</a:rPr>
              <a:t>Verify the result by executing the migrated application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</a:rPr>
              <a:t>Report the measured cost of migration in size and time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27305EA-516C-11F8-8A54-2BA046094A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9E6AA7-AE20-8A91-BA42-261BF76A2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6562-4E3F-4038-A291-A7AE35CC3E6A}" type="datetime1">
              <a:rPr lang="en-IN" smtClean="0"/>
              <a:t>25-10-2026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7FE434-77F0-B8BE-9198-66090332F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D6A9DA-AEE9-F6FE-EFA8-06396314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518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D95E8-8D7C-F548-8B75-23C3B2B15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DED8F-1EBD-2E10-598E-0CA3F56F0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</a:rPr>
              <a:t>Shor's algorithm breaks RSA, ECC and Diffie-Hellman; NIST standardised the replacements in August 2024 (FIPS 203, 204, 205).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</a:rPr>
              <a:t>Standardising algorithms solved only half the problem — migrating existing codebases is still slow, manual and needs cryptographic expertise.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</a:rPr>
              <a:t>We built an end-to-end framework: AST detection → purpose inference → NIST recommendation → rule-based rewriting → functional verification → reporting.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</a:rPr>
              <a:t>Evaluated on a 29-module labelled benchmark with 38 annotated sites: precision 1.00 and recall 1.00 over 31 in-scope sites, purpose accuracy 1.00, zero false alarms on 6 clean modules.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</a:rPr>
              <a:t>9 of 9 sites migrated across 3 sample applications; the migrated RSA and ECDSA applications execute successfully under real ML-KEM and ML-DSA.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</a:rPr>
              <a:t>Measured cost: ML-KEM-768 keys are 4.03× RSA-2048; ML-DSA-65 signatures are 46.6× ECDSA P-256.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156C6ACB-BF9E-DB99-B99C-4896C65273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D067F-DF0A-3BD2-0B9E-C22E39B7F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1D5D-2F82-4210-B67C-C3AADE7FED47}" type="datetime1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FD8C3-C2D0-4BBB-7FD8-43FE2C084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9991A-41D4-F0AB-EF39-ACE70C817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097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0AE58-8206-476A-BECC-A1ADC0EA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435FB437-6170-6BA2-1A38-A902855A3E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8056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13BC6E0-D294-E70D-8B27-13FBFEE5E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9193B-09C0-4C85-858C-650926A9B146}" type="datetime1">
              <a:rPr lang="en-IN" smtClean="0"/>
              <a:t>25-10-2026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F284BA2-3334-3EC1-0E81-4C9095897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8F14EB-D02F-8EDE-87F4-A3F7E8D20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5</a:t>
            </a:fld>
            <a:endParaRPr lang="en-IN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84048" y="1325880"/>
          <a:ext cx="11430000" cy="4754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92480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Paper / Source</a:t>
                      </a:r>
                    </a:p>
                  </a:txBody>
                  <a:tcPr marL="64008" marR="64008" marT="27432" marB="27432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Objective</a:t>
                      </a:r>
                    </a:p>
                  </a:txBody>
                  <a:tcPr marL="64008" marR="64008" marT="27432" marB="27432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Methodology</a:t>
                      </a:r>
                    </a:p>
                  </a:txBody>
                  <a:tcPr marL="64008" marR="64008" marT="27432" marB="27432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Pros / Cons</a:t>
                      </a:r>
                    </a:p>
                  </a:txBody>
                  <a:tcPr marL="64008" marR="64008" marT="27432" marB="27432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</a:rPr>
                        <a:t>Findings</a:t>
                      </a:r>
                    </a:p>
                  </a:txBody>
                  <a:tcPr marL="64008" marR="64008" marT="27432" marB="27432"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</a:rPr>
                        <a:t>NIST FIPS 203, 204, 205 (2024)</a:t>
                      </a:r>
                    </a:p>
                  </a:txBody>
                  <a:tcPr marL="64008" marR="64008" marT="27432" marB="27432">
                    <a:solidFill>
                      <a:srgbClr val="CC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</a:rPr>
                        <a:t>Standardise quantum-resistant KEM and signature schemes</a:t>
                      </a:r>
                    </a:p>
                  </a:txBody>
                  <a:tcPr marL="64008" marR="64008" marT="27432" marB="27432">
                    <a:solidFill>
                      <a:srgbClr val="CC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</a:rPr>
                        <a:t>Multi-round public evaluation of lattice and hash-based candidates</a:t>
                      </a:r>
                    </a:p>
                  </a:txBody>
                  <a:tcPr marL="64008" marR="64008" marT="27432" marB="27432">
                    <a:solidFill>
                      <a:srgbClr val="CC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</a:rPr>
                        <a:t>Pro: settles which algorithms to adopt.</a:t>
                      </a:r>
                    </a:p>
                    <a:p>
                      <a:pPr>
                        <a:lnSpc>
                          <a:spcPct val="9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</a:rPr>
                        <a:t>Con: silent on migrating existing code</a:t>
                      </a:r>
                    </a:p>
                  </a:txBody>
                  <a:tcPr marL="64008" marR="64008" marT="27432" marB="27432">
                    <a:solidFill>
                      <a:srgbClr val="CC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</a:rPr>
                        <a:t>ML-KEM, ML-DSA and SLH-DSA with defined parameter sets per security category</a:t>
                      </a:r>
                    </a:p>
                  </a:txBody>
                  <a:tcPr marL="64008" marR="64008" marT="27432" marB="27432">
                    <a:solidFill>
                      <a:srgbClr val="CCD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</a:rPr>
                        <a:t>NCCoE, NIST SP 1800-38 — Migration to PQC</a:t>
                      </a:r>
                    </a:p>
                  </a:txBody>
                  <a:tcPr marL="64008" marR="64008" marT="27432" marB="27432">
                    <a:solidFill>
                      <a:srgbClr val="DEE6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</a:rPr>
                        <a:t>Define a migration programme for enterprises</a:t>
                      </a:r>
                    </a:p>
                  </a:txBody>
                  <a:tcPr marL="64008" marR="64008" marT="27432" marB="27432">
                    <a:solidFill>
                      <a:srgbClr val="DEE6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</a:rPr>
                        <a:t>Practice guidance centred on cryptographic discovery and inventory</a:t>
                      </a:r>
                    </a:p>
                  </a:txBody>
                  <a:tcPr marL="64008" marR="64008" marT="27432" marB="27432">
                    <a:solidFill>
                      <a:srgbClr val="DEE6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</a:rPr>
                        <a:t>Pro: establishes discovery as the first step.</a:t>
                      </a:r>
                    </a:p>
                    <a:p>
                      <a:pPr>
                        <a:lnSpc>
                          <a:spcPct val="9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</a:rPr>
                        <a:t>Con: produces an inventory only</a:t>
                      </a:r>
                    </a:p>
                  </a:txBody>
                  <a:tcPr marL="64008" marR="64008" marT="27432" marB="27432">
                    <a:solidFill>
                      <a:srgbClr val="DEE6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</a:rPr>
                        <a:t>Knowing where crypto lives does not say what should replace it</a:t>
                      </a:r>
                    </a:p>
                  </a:txBody>
                  <a:tcPr marL="64008" marR="64008" marT="27432" marB="27432">
                    <a:solidFill>
                      <a:srgbClr val="DE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</a:rPr>
                        <a:t>Stebila &amp; Mosca, Open Quantum Safe (SAC 2016); kyber-py, dilithium-py</a:t>
                      </a:r>
                    </a:p>
                  </a:txBody>
                  <a:tcPr marL="64008" marR="64008" marT="27432" marB="27432">
                    <a:solidFill>
                      <a:srgbClr val="CC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</a:rPr>
                        <a:t>Make post-quantum primitives usable in real software</a:t>
                      </a:r>
                    </a:p>
                  </a:txBody>
                  <a:tcPr marL="64008" marR="64008" marT="27432" marB="27432">
                    <a:solidFill>
                      <a:srgbClr val="CC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</a:rPr>
                        <a:t>Open-source reference and optimised implementations</a:t>
                      </a:r>
                    </a:p>
                  </a:txBody>
                  <a:tcPr marL="64008" marR="64008" marT="27432" marB="27432">
                    <a:solidFill>
                      <a:srgbClr val="CC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</a:rPr>
                        <a:t>Pro: production-quality primitives available.</a:t>
                      </a:r>
                    </a:p>
                    <a:p>
                      <a:pPr>
                        <a:lnSpc>
                          <a:spcPct val="9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</a:rPr>
                        <a:t>Con: supplies the destination, not the journey</a:t>
                      </a:r>
                    </a:p>
                  </a:txBody>
                  <a:tcPr marL="64008" marR="64008" marT="27432" marB="27432">
                    <a:solidFill>
                      <a:srgbClr val="CC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</a:rPr>
                        <a:t>Primitives are available and interoperable well ahead of adoption</a:t>
                      </a:r>
                    </a:p>
                  </a:txBody>
                  <a:tcPr marL="64008" marR="64008" marT="27432" marB="27432">
                    <a:solidFill>
                      <a:srgbClr val="CCD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</a:rPr>
                        <a:t>Chen et al., Evaluating LLMs trained on code (2021)</a:t>
                      </a:r>
                    </a:p>
                  </a:txBody>
                  <a:tcPr marL="64008" marR="64008" marT="27432" marB="27432">
                    <a:solidFill>
                      <a:srgbClr val="DEE6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</a:rPr>
                        <a:t>Assess model-driven source-to-source transformation</a:t>
                      </a:r>
                    </a:p>
                  </a:txBody>
                  <a:tcPr marL="64008" marR="64008" marT="27432" marB="27432">
                    <a:solidFill>
                      <a:srgbClr val="DEE6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</a:rPr>
                        <a:t>Benchmark generated code against functional tests</a:t>
                      </a:r>
                    </a:p>
                  </a:txBody>
                  <a:tcPr marL="64008" marR="64008" marT="27432" marB="27432">
                    <a:solidFill>
                      <a:srgbClr val="DEE6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</a:rPr>
                        <a:t>Pro: handles code shapes rules cannot match.</a:t>
                      </a:r>
                    </a:p>
                    <a:p>
                      <a:pPr>
                        <a:lnSpc>
                          <a:spcPct val="9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</a:rPr>
                        <a:t>Con: output requires human verification</a:t>
                      </a:r>
                    </a:p>
                  </a:txBody>
                  <a:tcPr marL="64008" marR="64008" marT="27432" marB="27432">
                    <a:solidFill>
                      <a:srgbClr val="DEE6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</a:rPr>
                        <a:t>A plausible patch is indistinguishable from a correct one without execution</a:t>
                      </a:r>
                    </a:p>
                  </a:txBody>
                  <a:tcPr marL="64008" marR="64008" marT="27432" marB="27432">
                    <a:solidFill>
                      <a:srgbClr val="DE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2480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</a:rPr>
                        <a:t>Mosca (2018); Barker et al., NIST white paper (2021)</a:t>
                      </a:r>
                    </a:p>
                  </a:txBody>
                  <a:tcPr marL="64008" marR="64008" marT="27432" marB="27432">
                    <a:solidFill>
                      <a:srgbClr val="CC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</a:rPr>
                        <a:t>Frame the urgency and organisational readiness problem</a:t>
                      </a:r>
                    </a:p>
                  </a:txBody>
                  <a:tcPr marL="64008" marR="64008" marT="27432" marB="27432">
                    <a:solidFill>
                      <a:srgbClr val="CC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</a:rPr>
                        <a:t>Risk analysis of the harvest-now-decrypt-later threat</a:t>
                      </a:r>
                    </a:p>
                  </a:txBody>
                  <a:tcPr marL="64008" marR="64008" marT="27432" marB="27432">
                    <a:solidFill>
                      <a:srgbClr val="CC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</a:rPr>
                        <a:t>Pro: justifies acting before quantum hardware exists.</a:t>
                      </a:r>
                    </a:p>
                    <a:p>
                      <a:pPr>
                        <a:lnSpc>
                          <a:spcPct val="9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</a:rPr>
                        <a:t>Con: no technical migration path</a:t>
                      </a:r>
                    </a:p>
                  </a:txBody>
                  <a:tcPr marL="64008" marR="64008" marT="27432" marB="27432">
                    <a:solidFill>
                      <a:srgbClr val="CCD7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</a:rPr>
                        <a:t>Long-lived data is already exposed; migration cannot wait for the threat</a:t>
                      </a:r>
                    </a:p>
                  </a:txBody>
                  <a:tcPr marL="64008" marR="64008" marT="27432" marB="27432">
                    <a:solidFill>
                      <a:srgbClr val="CCD7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7449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64C5E-26B3-2EE9-895A-F822E4C4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F8AC8-6380-9217-CA4C-1FBF1C25C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</a:rPr>
              <a:t>Discovery tools identify cryptography but do not recommend replacements.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</a:rPr>
              <a:t>Standards specify replacements but do not transform code.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</a:rPr>
              <a:t>Implementations provide primitives but do not migrate anything.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</a:rPr>
              <a:t>Transformation research changes code but does not verify the result.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</a:rPr>
              <a:t>No existing system connects detection → decision → transformation → verification into one workflow.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</a:rPr>
              <a:t>Verification is the widest part of the gap: cryptographic correctness is not visible by inspection — it must be demonstrated by execution.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E07AC55-BA5E-4123-39E6-B79860C6C9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430A72-466B-CBDE-2F02-635BA91A9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E986A-8308-4C4E-A0F3-DDD9B5B25762}" type="datetime1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1DDA3-7A7C-1F61-1795-3A01ED678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E3226-1DB1-3A4D-CE37-4A2AD48EF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102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50AAC-0156-D6F5-7153-C79199994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3ADE1-559A-2DC2-A801-6A915E106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280160"/>
            <a:ext cx="10515600" cy="2697480"/>
          </a:xfrm>
        </p:spPr>
        <p:txBody>
          <a:bodyPr wrap="square">
            <a:normAutofit/>
          </a:bodyPr>
          <a:lstStyle/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</a:rPr>
              <a:t>Detect RSA, ECC and DH usage with file, line, algorithm and library.</a:t>
            </a: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</a:rPr>
              <a:t>Classify each occurrence as key encapsulation, key exchange or signature.</a:t>
            </a: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</a:rPr>
              <a:t>Recommend a specific NIST parameter set with a written justification.</a:t>
            </a: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</a:rPr>
              <a:t>Rewrite source onto PQC without modifying the originals.</a:t>
            </a: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</a:rPr>
              <a:t>Verify by round-trip tests, negative tests and executing migrated code.</a:t>
            </a: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</a:rPr>
              <a:t>Generate JSON, Markdown and HTML reports with a measured benchmark.</a:t>
            </a: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</a:rPr>
              <a:t>Evaluate detection quantitatively against a labelled benchmark.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2BADD22-870A-4D8F-B788-CCCD5C223F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E4F0EB-E8F1-14D8-E22A-38E83F9B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25-10-2026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8B93F-BA73-08B5-E0DD-D434FA25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ABF72-E9F9-626A-63CD-EA20C0714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632EBB-2D05-8D00-7F98-43CBAFAF06ED}"/>
              </a:ext>
            </a:extLst>
          </p:cNvPr>
          <p:cNvSpPr txBox="1"/>
          <p:nvPr/>
        </p:nvSpPr>
        <p:spPr>
          <a:xfrm>
            <a:off x="548640" y="4069080"/>
            <a:ext cx="11064240" cy="777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150" b="1">
                <a:solidFill>
                  <a:srgbClr val="1A1A1A"/>
                </a:solidFill>
              </a:rPr>
              <a:t>Identified Sustainable Development Goals:  SDG 9 – Industry, Innovation and Infrastructure (primary);  SDG 16 – Peace, Justice and Strong Institutions (secondary)</a:t>
            </a:r>
          </a:p>
          <a:p>
            <a:pPr>
              <a:lnSpc>
                <a:spcPct val="95000"/>
              </a:lnSpc>
              <a:spcAft>
                <a:spcPts val="600"/>
              </a:spcAft>
            </a:pPr>
            <a:r>
              <a:rPr sz="1150" b="1">
                <a:solidFill>
                  <a:srgbClr val="1A1A1A"/>
                </a:solidFill>
              </a:rPr>
              <a:t>Outcome: Conference (Scopus) — paper drafted, target venue to be finalised with the guide</a:t>
            </a:r>
          </a:p>
        </p:txBody>
      </p:sp>
      <p:pic>
        <p:nvPicPr>
          <p:cNvPr id="8" name="Picture 7" descr="3 The UN 17 Sustainable Development Goals (SDGs), implemented by all... | Download Scientific Diagram">
            <a:extLst>
              <a:ext uri="{FF2B5EF4-FFF2-40B4-BE49-F238E27FC236}">
                <a16:creationId xmlns:a16="http://schemas.microsoft.com/office/drawing/2014/main" id="{36180A9B-AA72-E2D6-8362-4CDF7058D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4864608"/>
            <a:ext cx="1654035" cy="1325880"/>
          </a:xfrm>
          <a:prstGeom prst="rect">
            <a:avLst/>
          </a:prstGeom>
        </p:spPr>
      </p:pic>
      <p:pic>
        <p:nvPicPr>
          <p:cNvPr id="9" name="Picture 8" descr="What are Technology Readiness Levels (TRL)? - TWI">
            <a:extLst>
              <a:ext uri="{FF2B5EF4-FFF2-40B4-BE49-F238E27FC236}">
                <a16:creationId xmlns:a16="http://schemas.microsoft.com/office/drawing/2014/main" id="{D1491C9C-07B3-89C3-5FA0-72C9F44F3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4864608"/>
            <a:ext cx="1453189" cy="1325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962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49C0F-2490-21B4-8186-6F75540AC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BB131-7217-3694-F593-4021591CC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371600"/>
            <a:ext cx="10515600" cy="777240"/>
          </a:xfrm>
        </p:spPr>
        <p:txBody>
          <a:bodyPr wrap="square">
            <a:norm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</a:rPr>
              <a:t>Seven independent stages; each communicates only through explicit data records, so no stage can report an outcome an earlier stage did not produce.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5DE9EA00-8D77-8DC9-1AE3-8B6FD1AF6B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Framework/Architecture/Block Diagram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40592E-46EE-B4F2-7D01-D3568C2F6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25-10-2026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DC439-5940-84EE-247A-E3018795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B23C8-7091-8CFB-BF2C-3A19CCA81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fig_4_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2240280"/>
            <a:ext cx="6400800" cy="4036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13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95AF1-B807-AC15-9C1A-B86677AF6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324FF-B70A-2FC0-8FD0-C802E31DD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</a:rPr>
              <a:t>FR1 — Recursively scan a project and report every RSA, ECC and DH usage.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</a:rPr>
              <a:t>FR2 — Report file, line, algorithm family, library and matched construct.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</a:rPr>
              <a:t>FR3 — Classify each occurrence as KEM, key exchange or signature.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</a:rPr>
              <a:t>FR4 — Continue analysing files that fail to parse, via a textual fallback.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</a:rPr>
              <a:t>FR5 — Accept target security category and signature family from config or CLI.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</a:rPr>
              <a:t>FR6 — Recommend a NIST parameter set per finding, with a justification.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</a:rPr>
              <a:t>FR7 — Produce migrated copies without modifying the original source.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</a:rPr>
              <a:t>FR8 — Never report a finding as migrated unless a rule actually applied.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</a:rPr>
              <a:t>FR9 — Verify by round-trip and negative tests, and execute migrated apps.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</a:rPr>
              <a:t>FR10 — Generate JSON, Markdown and HTML reports with a live benchmark.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C9A0194-5820-F292-3A94-449C000E51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F25267-3005-EC45-A624-B78484DFA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25-10-2026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022FF-AD0C-E15E-5F17-B2827B554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D6198-8B2C-26FB-53D2-A5B87C95A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1299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2F2ED-50F9-3DFA-95BB-1A1059C5D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F2560-A5FE-A724-8F39-E7E901E8F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</a:rPr>
              <a:t>Detector — AST walk over every module, matched against a pattern index; alias resolution; regex fallback for unparseable files.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</a:rPr>
              <a:t>Purpose classifier — re-infers the role of key generation from how the key is used elsewhere in the same module.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</a:rPr>
              <a:t>Recommender — purpose selects the family, security category selects the parameter set, scoring raises it from classical strength signals.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</a:rPr>
              <a:t>Migrator — independent rewrite rules plus a compatibility shim that keeps the classical object model over ML-KEM / ML-DSA.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</a:rPr>
              <a:t>PQC backend — one interface over liboqs and pure-Python kyber-py / dilithium-py; unsupported algorithms raise rather than substitute.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</a:rPr>
              <a:t>Verifier — round-trips, negative tests, and execution of migrated apps.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</a:rPr>
              <a:t>Reporter — JSON, Markdown, HTML with a benchmark measured at run time.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B27DA514-48FC-4BF4-8205-DE21D456C5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4A04E0-6631-130F-A154-C85D978EA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25-10-2026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15995-EDEB-C984-B852-1229C23B1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F5109-389C-3E37-E553-A559233EF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870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556E8-0003-02C5-D37D-A5CC4CE44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67973-736B-B05D-D378-DA7CBE3EB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371600"/>
            <a:ext cx="10515600" cy="2057400"/>
          </a:xfrm>
        </p:spPr>
        <p:txBody>
          <a:bodyPr wrap="square">
            <a:norm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1A1A1A"/>
                </a:solidFill>
              </a:rPr>
              <a:t>Detection benchmark — 29 modules (18 in-scope, 5 adversarial, 6 clean), 38 annotated sites.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</a:rPr>
              <a:t>In-scope: precision 1.000, recall 1.000, F1 1.000 over 31 sites; purpose accuracy 1.000; 0 false alarms on 6 clean modules.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</a:rPr>
              <a:t>Extended (adversarial): recall 0.000 of 7 — wrapper libraries, string parameters and dynamic dispatch bound syntactic analysis.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1A1A1A"/>
                </a:solidFill>
              </a:rPr>
              <a:t>Pipeline: 9/9 sites migrated across 3 apps; migrated RSA and ECDSA apps execute successfully. 70 automated tests pass.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E386D544-A80A-B599-44C7-B40BA6ECC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and Results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25-10-2026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fig_7_1_siz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480" y="3566160"/>
            <a:ext cx="6035040" cy="2462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188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49A39-F362-DB35-B5DF-7E322AB9C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F33DD-84F0-A7F9-A1DC-A4DEA1A7D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A1A1A"/>
                </a:solidFill>
              </a:rPr>
              <a:t>PQC migration is a software-engineering problem with a cryptographic correctness criterion — not just an algorithm choice.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</a:rPr>
              <a:t>Delivered an end-to-end verified pipeline: detection, purpose inference, recommendation, rewriting, verification and reporting.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1A1A1A"/>
                </a:solidFill>
              </a:rPr>
              <a:t>All seven objectives met; limitations measured and reported rather than concealed.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A1A1A"/>
                </a:solidFill>
              </a:rPr>
              <a:t>Future work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</a:rPr>
              <a:t>LLM-assisted transformation for the 7 adversarial sites rules cannot reach — verification stage stays, so generated code must still execute.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</a:rPr>
              <a:t>Protocol-level restructuring of Diffie-Hellman handshakes.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1A1A1A"/>
                </a:solidFill>
              </a:rPr>
              <a:t>Wrapper-library coverage, languages beyond Python, the optimisation module, and independent evaluation on real repositories.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754A46F-4AC3-5AF1-0B78-C0B5112BD1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Work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1BAA61-633E-E24B-7DEE-4B2A2B1FA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25-10-2026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3C553-2D0C-5A0A-39DC-21C43BD88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7A7E9-45BE-62F4-D3A6-F19DC6ABE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498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EE89F-6F96-DF9C-768A-8B2A7BEAD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 Achieved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DBCB3-75D0-D33A-66EA-4DDA4A022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00" b="1" dirty="0">
                <a:solidFill>
                  <a:srgbClr val="1A1A1A"/>
                </a:solidFill>
              </a:rPr>
              <a:t>Outcome identified: International Conference Proceedings (Scopus)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00" b="0" dirty="0">
                <a:solidFill>
                  <a:srgbClr val="1A1A1A"/>
                </a:solidFill>
              </a:rPr>
              <a:t>Status: full paper drafted — 8 sections, 5 result tables, measured evaluation. Target venue to be </a:t>
            </a:r>
            <a:r>
              <a:rPr sz="1400" b="0" dirty="0" err="1">
                <a:solidFill>
                  <a:srgbClr val="1A1A1A"/>
                </a:solidFill>
              </a:rPr>
              <a:t>finalised</a:t>
            </a:r>
            <a:r>
              <a:rPr sz="1400" b="0" dirty="0">
                <a:solidFill>
                  <a:srgbClr val="1A1A1A"/>
                </a:solidFill>
              </a:rPr>
              <a:t> with the guide.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sz="1400" b="0" dirty="0">
                <a:solidFill>
                  <a:srgbClr val="1A1A1A"/>
                </a:solidFill>
              </a:rPr>
              <a:t>Title: “From Detection to Verified Replacement: An End-to-End Framework for Post-Quantum Cryptographic Migration of Python Codebases”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6E621-0A63-DDD2-60A0-511D9D7C8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66F66-9685-CC43-3B74-035A03CAF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234F7B-54B7-5C34-9356-A94BE39E2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5707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0E1A0-FA4A-8258-6E10-9F00EDC0B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7CFC0C65-61CC-E657-43F7-99C8E53624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CC4F09CD-956A-B8B3-1183-9C28C80DDB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0080" y="1298448"/>
            <a:ext cx="10881360" cy="484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95000"/>
              </a:lnSpc>
              <a:spcBef>
                <a:spcPct val="0"/>
              </a:spcBef>
              <a:spcAft>
                <a:spcPts val="500"/>
              </a:spcAft>
              <a:buNone/>
            </a:pPr>
            <a:r>
              <a:rPr sz="1050" i="0">
                <a:solidFill>
                  <a:srgbClr val="1A1A1A"/>
                </a:solidFill>
                <a:latin typeface="Times New Roman"/>
              </a:rPr>
              <a:t>[1] National Institute of Standards and Technology, </a:t>
            </a:r>
            <a:r>
              <a:rPr sz="1050" i="1">
                <a:solidFill>
                  <a:srgbClr val="1A1A1A"/>
                </a:solidFill>
                <a:latin typeface="Times New Roman"/>
              </a:rPr>
              <a:t>Module-Lattice-Based Key-Encapsulation Mechanism Standard</a:t>
            </a:r>
            <a:r>
              <a:rPr sz="1050" i="0">
                <a:solidFill>
                  <a:srgbClr val="1A1A1A"/>
                </a:solidFill>
                <a:latin typeface="Times New Roman"/>
              </a:rPr>
              <a:t>, FIPS 203, Gaithersburg, MD, USA, Aug. 2024.</a:t>
            </a:r>
          </a:p>
          <a:p>
            <a:pPr>
              <a:lnSpc>
                <a:spcPct val="95000"/>
              </a:lnSpc>
              <a:spcAft>
                <a:spcPts val="500"/>
              </a:spcAft>
              <a:buNone/>
            </a:pPr>
            <a:r>
              <a:rPr sz="1050" i="0">
                <a:solidFill>
                  <a:srgbClr val="1A1A1A"/>
                </a:solidFill>
                <a:latin typeface="Times New Roman"/>
              </a:rPr>
              <a:t>[2] National Institute of Standards and Technology, </a:t>
            </a:r>
            <a:r>
              <a:rPr sz="1050" i="1">
                <a:solidFill>
                  <a:srgbClr val="1A1A1A"/>
                </a:solidFill>
                <a:latin typeface="Times New Roman"/>
              </a:rPr>
              <a:t>Module-Lattice-Based Digital Signature Standard</a:t>
            </a:r>
            <a:r>
              <a:rPr sz="1050" i="0">
                <a:solidFill>
                  <a:srgbClr val="1A1A1A"/>
                </a:solidFill>
                <a:latin typeface="Times New Roman"/>
              </a:rPr>
              <a:t>, FIPS 204, Gaithersburg, MD, USA, Aug. 2024.</a:t>
            </a:r>
          </a:p>
          <a:p>
            <a:pPr>
              <a:lnSpc>
                <a:spcPct val="95000"/>
              </a:lnSpc>
              <a:spcAft>
                <a:spcPts val="500"/>
              </a:spcAft>
              <a:buNone/>
            </a:pPr>
            <a:r>
              <a:rPr sz="1050" i="0">
                <a:solidFill>
                  <a:srgbClr val="1A1A1A"/>
                </a:solidFill>
                <a:latin typeface="Times New Roman"/>
              </a:rPr>
              <a:t>[3] National Institute of Standards and Technology, </a:t>
            </a:r>
            <a:r>
              <a:rPr sz="1050" i="1">
                <a:solidFill>
                  <a:srgbClr val="1A1A1A"/>
                </a:solidFill>
                <a:latin typeface="Times New Roman"/>
              </a:rPr>
              <a:t>Stateless Hash-Based Digital Signature Standard</a:t>
            </a:r>
            <a:r>
              <a:rPr sz="1050" i="0">
                <a:solidFill>
                  <a:srgbClr val="1A1A1A"/>
                </a:solidFill>
                <a:latin typeface="Times New Roman"/>
              </a:rPr>
              <a:t>, FIPS 205, Gaithersburg, MD, USA, Aug. 2024.</a:t>
            </a:r>
          </a:p>
          <a:p>
            <a:pPr>
              <a:lnSpc>
                <a:spcPct val="95000"/>
              </a:lnSpc>
              <a:spcAft>
                <a:spcPts val="500"/>
              </a:spcAft>
              <a:buNone/>
            </a:pPr>
            <a:r>
              <a:rPr sz="1050" i="0">
                <a:solidFill>
                  <a:srgbClr val="1A1A1A"/>
                </a:solidFill>
                <a:latin typeface="Times New Roman"/>
              </a:rPr>
              <a:t>[4] National Cybersecurity Center of Excellence, </a:t>
            </a:r>
            <a:r>
              <a:rPr sz="1050" i="1">
                <a:solidFill>
                  <a:srgbClr val="1A1A1A"/>
                </a:solidFill>
                <a:latin typeface="Times New Roman"/>
              </a:rPr>
              <a:t>Migration to Post-Quantum Cryptography</a:t>
            </a:r>
            <a:r>
              <a:rPr sz="1050" i="0">
                <a:solidFill>
                  <a:srgbClr val="1A1A1A"/>
                </a:solidFill>
                <a:latin typeface="Times New Roman"/>
              </a:rPr>
              <a:t>, NIST Special Publication 1800-38, Gaithersburg, MD, USA.</a:t>
            </a:r>
          </a:p>
          <a:p>
            <a:pPr>
              <a:lnSpc>
                <a:spcPct val="95000"/>
              </a:lnSpc>
              <a:spcAft>
                <a:spcPts val="500"/>
              </a:spcAft>
              <a:buNone/>
            </a:pPr>
            <a:r>
              <a:rPr sz="1050" i="0">
                <a:solidFill>
                  <a:srgbClr val="1A1A1A"/>
                </a:solidFill>
                <a:latin typeface="Times New Roman"/>
              </a:rPr>
              <a:t>[5] G. Pope, “kyber-py: A pure-Python implementation of ML-KEM (FIPS 203),” software repository, version 1.2.0.</a:t>
            </a:r>
          </a:p>
          <a:p>
            <a:pPr>
              <a:lnSpc>
                <a:spcPct val="95000"/>
              </a:lnSpc>
              <a:spcAft>
                <a:spcPts val="500"/>
              </a:spcAft>
              <a:buNone/>
            </a:pPr>
            <a:r>
              <a:rPr sz="1050" i="0">
                <a:solidFill>
                  <a:srgbClr val="1A1A1A"/>
                </a:solidFill>
                <a:latin typeface="Times New Roman"/>
              </a:rPr>
              <a:t>[6] G. Pope, “dilithium-py: A pure-Python implementation of ML-DSA (FIPS 204),” software repository, version 1.4.0.</a:t>
            </a:r>
          </a:p>
          <a:p>
            <a:pPr>
              <a:lnSpc>
                <a:spcPct val="95000"/>
              </a:lnSpc>
              <a:spcAft>
                <a:spcPts val="500"/>
              </a:spcAft>
              <a:buNone/>
            </a:pPr>
            <a:r>
              <a:rPr sz="1050" i="0">
                <a:solidFill>
                  <a:srgbClr val="1A1A1A"/>
                </a:solidFill>
                <a:latin typeface="Times New Roman"/>
              </a:rPr>
              <a:t>[7] W. Barker, W. Polk and M. Souppaya, </a:t>
            </a:r>
            <a:r>
              <a:rPr sz="1050" i="1">
                <a:solidFill>
                  <a:srgbClr val="1A1A1A"/>
                </a:solidFill>
                <a:latin typeface="Times New Roman"/>
              </a:rPr>
              <a:t>Getting Ready for Post-Quantum Cryptography</a:t>
            </a:r>
            <a:r>
              <a:rPr sz="1050" i="0">
                <a:solidFill>
                  <a:srgbClr val="1A1A1A"/>
                </a:solidFill>
                <a:latin typeface="Times New Roman"/>
              </a:rPr>
              <a:t>, NIST Cybersecurity White Paper, 2021.</a:t>
            </a:r>
          </a:p>
          <a:p>
            <a:pPr>
              <a:lnSpc>
                <a:spcPct val="95000"/>
              </a:lnSpc>
              <a:spcAft>
                <a:spcPts val="500"/>
              </a:spcAft>
              <a:buNone/>
            </a:pPr>
            <a:r>
              <a:rPr sz="1050" i="0">
                <a:solidFill>
                  <a:srgbClr val="1A1A1A"/>
                </a:solidFill>
                <a:latin typeface="Times New Roman"/>
              </a:rPr>
              <a:t>[8] M. Chen et al., “Evaluating large language models trained on code,” </a:t>
            </a:r>
            <a:r>
              <a:rPr sz="1050" i="1">
                <a:solidFill>
                  <a:srgbClr val="1A1A1A"/>
                </a:solidFill>
                <a:latin typeface="Times New Roman"/>
              </a:rPr>
              <a:t>arXiv preprint</a:t>
            </a:r>
            <a:r>
              <a:rPr sz="1050" i="0">
                <a:solidFill>
                  <a:srgbClr val="1A1A1A"/>
                </a:solidFill>
                <a:latin typeface="Times New Roman"/>
              </a:rPr>
              <a:t> arXiv:2107.03374, 2021.</a:t>
            </a:r>
          </a:p>
          <a:p>
            <a:pPr>
              <a:lnSpc>
                <a:spcPct val="95000"/>
              </a:lnSpc>
              <a:spcAft>
                <a:spcPts val="500"/>
              </a:spcAft>
              <a:buNone/>
            </a:pPr>
            <a:r>
              <a:rPr sz="1050" i="0">
                <a:solidFill>
                  <a:srgbClr val="1A1A1A"/>
                </a:solidFill>
                <a:latin typeface="Times New Roman"/>
              </a:rPr>
              <a:t>[9] M. Mosca, “Cybersecurity in an era with quantum computers: Will we be ready?,” </a:t>
            </a:r>
            <a:r>
              <a:rPr sz="1050" i="1">
                <a:solidFill>
                  <a:srgbClr val="1A1A1A"/>
                </a:solidFill>
                <a:latin typeface="Times New Roman"/>
              </a:rPr>
              <a:t>IEEE Security &amp; Privacy</a:t>
            </a:r>
            <a:r>
              <a:rPr sz="1050" i="0">
                <a:solidFill>
                  <a:srgbClr val="1A1A1A"/>
                </a:solidFill>
                <a:latin typeface="Times New Roman"/>
              </a:rPr>
              <a:t>, vol. 16, no. 5, pp. 38-41, 2018.</a:t>
            </a:r>
          </a:p>
          <a:p>
            <a:pPr>
              <a:lnSpc>
                <a:spcPct val="95000"/>
              </a:lnSpc>
              <a:spcAft>
                <a:spcPts val="500"/>
              </a:spcAft>
              <a:buNone/>
            </a:pPr>
            <a:r>
              <a:rPr sz="1050" i="0">
                <a:solidFill>
                  <a:srgbClr val="1A1A1A"/>
                </a:solidFill>
                <a:latin typeface="Times New Roman"/>
              </a:rPr>
              <a:t>[10] D. Stebila and M. Mosca, “Post-quantum key exchange for the Internet and the Open Quantum Safe project,” in </a:t>
            </a:r>
            <a:r>
              <a:rPr sz="1050" i="1">
                <a:solidFill>
                  <a:srgbClr val="1A1A1A"/>
                </a:solidFill>
                <a:latin typeface="Times New Roman"/>
              </a:rPr>
              <a:t>Proc. Selected Areas in Cryptography (SAC 2016)</a:t>
            </a:r>
            <a:r>
              <a:rPr sz="1050" i="0">
                <a:solidFill>
                  <a:srgbClr val="1A1A1A"/>
                </a:solidFill>
                <a:latin typeface="Times New Roman"/>
              </a:rPr>
              <a:t>, LNCS vol. 10532, pp. 14-37.</a:t>
            </a:r>
          </a:p>
          <a:p>
            <a:pPr>
              <a:lnSpc>
                <a:spcPct val="95000"/>
              </a:lnSpc>
              <a:spcAft>
                <a:spcPts val="500"/>
              </a:spcAft>
              <a:buNone/>
            </a:pPr>
            <a:r>
              <a:rPr sz="1050" i="0">
                <a:solidFill>
                  <a:srgbClr val="1A1A1A"/>
                </a:solidFill>
                <a:latin typeface="Times New Roman"/>
              </a:rPr>
              <a:t>[11] P. W. Shor, “Polynomial-time algorithms for prime factorization and discrete logarithms on a quantum computer,” </a:t>
            </a:r>
            <a:r>
              <a:rPr sz="1050" i="1">
                <a:solidFill>
                  <a:srgbClr val="1A1A1A"/>
                </a:solidFill>
                <a:latin typeface="Times New Roman"/>
              </a:rPr>
              <a:t>SIAM Journal on Computing</a:t>
            </a:r>
            <a:r>
              <a:rPr sz="1050" i="0">
                <a:solidFill>
                  <a:srgbClr val="1A1A1A"/>
                </a:solidFill>
                <a:latin typeface="Times New Roman"/>
              </a:rPr>
              <a:t>, vol. 26, no. 5, pp. 1484-1509, 1997.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32D3DB-7149-E1E5-D5F9-4FC93A788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C7B6C-E68D-4047-8A1E-3C7BD2842AF7}" type="datetime1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BCABB1-7C63-52E3-2815-3651AE7E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1EAEC-BCE3-2979-69C6-273309B9F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526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1707</Words>
  <Application>Microsoft Office PowerPoint</Application>
  <PresentationFormat>Widescreen</PresentationFormat>
  <Paragraphs>176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Theme</vt:lpstr>
      <vt:lpstr>B.Tech.  |  BCSE497J – Project-I AI-Driven Post-Quantum Cryptography Migration Framework</vt:lpstr>
      <vt:lpstr>Approval Mail From Guide</vt:lpstr>
      <vt:lpstr>Aim</vt:lpstr>
      <vt:lpstr>Abstract</vt:lpstr>
      <vt:lpstr>Literature Review</vt:lpstr>
      <vt:lpstr>Research Gap</vt:lpstr>
      <vt:lpstr>Objectives</vt:lpstr>
      <vt:lpstr>Framework/Architecture/Block Diagram</vt:lpstr>
      <vt:lpstr>Functional Requirements</vt:lpstr>
      <vt:lpstr>Modules</vt:lpstr>
      <vt:lpstr>Experiments and Results</vt:lpstr>
      <vt:lpstr>Conclusion and Future Work</vt:lpstr>
      <vt:lpstr>Outcome Achieved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&lt;&lt;Programme B.Tech/ M.Tech Course Code – Course Title&gt;&gt; &lt;&lt;Project Title&gt;&gt;</dc:title>
  <dc:creator>Parthasarathy G</dc:creator>
  <cp:lastModifiedBy>Arpit Mittal</cp:lastModifiedBy>
  <cp:revision>13</cp:revision>
  <dcterms:created xsi:type="dcterms:W3CDTF">2026-07-14T06:00:41Z</dcterms:created>
  <dcterms:modified xsi:type="dcterms:W3CDTF">2026-10-24T19:50:37Z</dcterms:modified>
</cp:coreProperties>
</file>